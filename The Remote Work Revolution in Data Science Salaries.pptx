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5143500" type="screen16x9"/>
  <p:notesSz cx="6858000" cy="9144000"/>
  <p:embeddedFontLst>
    <p:embeddedFont>
      <p:font typeface="Merriweather" pitchFamily="2" charset="77"/>
      <p:regular r:id="rId12"/>
      <p:bold r:id="rId13"/>
      <p:italic r:id="rId14"/>
      <p:boldItalic r:id="rId15"/>
    </p:embeddedFont>
    <p:embeddedFont>
      <p:font typeface="Roboto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53"/>
  </p:normalViewPr>
  <p:slideViewPr>
    <p:cSldViewPr snapToGrid="0">
      <p:cViewPr varScale="1">
        <p:scale>
          <a:sx n="158" d="100"/>
          <a:sy n="158" d="100"/>
        </p:scale>
        <p:origin x="560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e5a76eb7a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g3ae5a76eb7a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e5a76eb7a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g3ae5a76eb7a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e5a76eb7a_0_38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ae5a76eb7a_0_38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e5a76eb7a_0_38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3ae5a76eb7a_0_38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e5a76eb7a_0_38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3ae5a76eb7a_0_38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e5a76eb7a_2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g3ae5a76eb7a_2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e5a76eb7a_2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ae5a76eb7a_2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B2A066D4-F8F1-F63A-2D91-DE8C875A8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e5a76eb7a_2_91:notes">
            <a:extLst>
              <a:ext uri="{FF2B5EF4-FFF2-40B4-BE49-F238E27FC236}">
                <a16:creationId xmlns:a16="http://schemas.microsoft.com/office/drawing/2014/main" id="{37BAE11D-EEF9-F021-6A58-2A50139451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ae5a76eb7a_2_91:notes">
            <a:extLst>
              <a:ext uri="{FF2B5EF4-FFF2-40B4-BE49-F238E27FC236}">
                <a16:creationId xmlns:a16="http://schemas.microsoft.com/office/drawing/2014/main" id="{486FB58C-5984-578D-9EC1-9565017B86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7599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Remote Work Revolution in Data Science Salaries</a:t>
            </a:r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By </a:t>
            </a:r>
            <a:r>
              <a:rPr lang="en" dirty="0" err="1"/>
              <a:t>Chandrakanth</a:t>
            </a:r>
            <a:r>
              <a:rPr lang="en" dirty="0"/>
              <a:t> &amp; Ahmed Ali Rao</a:t>
            </a:r>
            <a:endParaRPr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subTitle" idx="1"/>
          </p:nvPr>
        </p:nvSpPr>
        <p:spPr>
          <a:xfrm>
            <a:off x="7167901" y="4620111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December 8, 2025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and How</a:t>
            </a:r>
            <a:endParaRPr sz="2700"/>
          </a:p>
        </p:txBody>
      </p:sp>
      <p:sp>
        <p:nvSpPr>
          <p:cNvPr id="78" name="Google Shape;78;p1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266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Explore trends in data science salaries (2020–2023) across remote, hybrid, and on-site jobs.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66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key salary factors (job title, experience, location).</a:t>
            </a:r>
            <a:br>
              <a:rPr lang="en" sz="2000">
                <a:latin typeface="Calibri"/>
                <a:ea typeface="Calibri"/>
                <a:cs typeface="Calibri"/>
                <a:sym typeface="Calibri"/>
              </a:rPr>
            </a:b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Techniques Referenced: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66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Tufte’s Principles: High data-ink ratio, clear annotation, contextual detail.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66700" algn="l" rtl="0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Munzner’s Techniques: Faceting (by year/work type), Filtering (work type), Multi-view, Tooltip interaction.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(Viz 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1 - Salary Distribution by Work Type (per year)) </a:t>
            </a:r>
            <a:endParaRPr sz="2400"/>
          </a:p>
        </p:txBody>
      </p:sp>
      <p:pic>
        <p:nvPicPr>
          <p:cNvPr id="84" name="Google Shape;84;p16" title="Screenshot 2025-12-07 at 6.52.40 PM.png"/>
          <p:cNvPicPr preferRelativeResize="0"/>
          <p:nvPr/>
        </p:nvPicPr>
        <p:blipFill rotWithShape="1">
          <a:blip r:embed="rId3">
            <a:alphaModFix/>
          </a:blip>
          <a:srcRect t="9428"/>
          <a:stretch/>
        </p:blipFill>
        <p:spPr>
          <a:xfrm>
            <a:off x="3493500" y="1243500"/>
            <a:ext cx="5325251" cy="31321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482950" y="1134925"/>
            <a:ext cx="2747400" cy="28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Key Points: </a:t>
            </a:r>
            <a:endParaRPr sz="1200" b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Remote roles generally show </a:t>
            </a:r>
            <a:r>
              <a:rPr lang="en" sz="12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higher median salaries</a:t>
            </a: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and greater variance.</a:t>
            </a:r>
            <a:endParaRPr sz="1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Onsite roles tend to have the </a:t>
            </a:r>
            <a:r>
              <a:rPr lang="en" sz="12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lowest salary distribution</a:t>
            </a: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Year-based filtering allows trends to be observed individually.</a:t>
            </a:r>
            <a:endParaRPr sz="1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Reveals shifts in salary dynamics across work types over time.</a:t>
            </a:r>
            <a:endParaRPr sz="1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 b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(Viz 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2 - Work Type Proportions &amp; Average Salary Trends) </a:t>
            </a:r>
            <a:endParaRPr sz="2400"/>
          </a:p>
        </p:txBody>
      </p:sp>
      <p:pic>
        <p:nvPicPr>
          <p:cNvPr id="91" name="Google Shape;91;p17" title="Screenshot 2025-12-07 at 6.52.48 PM.png"/>
          <p:cNvPicPr preferRelativeResize="0"/>
          <p:nvPr/>
        </p:nvPicPr>
        <p:blipFill rotWithShape="1">
          <a:blip r:embed="rId3">
            <a:alphaModFix/>
          </a:blip>
          <a:srcRect t="9477"/>
          <a:stretch/>
        </p:blipFill>
        <p:spPr>
          <a:xfrm>
            <a:off x="3831100" y="1341000"/>
            <a:ext cx="5035899" cy="29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/>
        </p:nvSpPr>
        <p:spPr>
          <a:xfrm>
            <a:off x="482950" y="1058725"/>
            <a:ext cx="3228000" cy="42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Key Points: </a:t>
            </a:r>
            <a:endParaRPr sz="1200" b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Remote jobs grew steadily from 2020–2022, becoming the most common work type.</a:t>
            </a:r>
            <a:endParaRPr sz="1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Onsite roles declined sharply post-2021 as remote work gained dominance.</a:t>
            </a:r>
            <a:endParaRPr sz="1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Hybrid jobs remained stable initially but dropped significantly after 2022.</a:t>
            </a:r>
            <a:endParaRPr sz="1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Remote roles offer the highest average salaries, peaking around $145K in 2023.</a:t>
            </a:r>
            <a:endParaRPr sz="1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Hybrid jobs consistently show the lowest average compensation.</a:t>
            </a:r>
            <a:endParaRPr sz="1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The chart shows how work trends and salaries shifted post-pandemic across different job types.</a:t>
            </a:r>
            <a:endParaRPr sz="1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 b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(Viz 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3 - Work Type Proportions &amp; Average Salary Trends) </a:t>
            </a:r>
            <a:endParaRPr sz="2400"/>
          </a:p>
        </p:txBody>
      </p:sp>
      <p:pic>
        <p:nvPicPr>
          <p:cNvPr id="98" name="Google Shape;98;p18" title="Screenshot 2025-12-07 at 6.53.47 PM.png"/>
          <p:cNvPicPr preferRelativeResize="0"/>
          <p:nvPr/>
        </p:nvPicPr>
        <p:blipFill rotWithShape="1">
          <a:blip r:embed="rId3">
            <a:alphaModFix/>
          </a:blip>
          <a:srcRect t="9216" r="33475" b="3256"/>
          <a:stretch/>
        </p:blipFill>
        <p:spPr>
          <a:xfrm>
            <a:off x="4345900" y="977825"/>
            <a:ext cx="4459075" cy="38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/>
        </p:nvSpPr>
        <p:spPr>
          <a:xfrm>
            <a:off x="482950" y="1058725"/>
            <a:ext cx="3373800" cy="40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Key Points: </a:t>
            </a:r>
            <a:endParaRPr sz="1200" b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Heatmap shows salary correlation with key encoded features like experience level and work type.</a:t>
            </a:r>
            <a:endParaRPr sz="1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Experience level has a strong positive correlation with salary, as expected.</a:t>
            </a:r>
            <a:endParaRPr sz="1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Work type has weaker correlation, suggesting other factors influence salary more heavily.</a:t>
            </a:r>
            <a:endParaRPr sz="1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Bottom plot visualizes salary vs. experience groups (Entry, Mid, Senior, Executive)</a:t>
            </a:r>
            <a:endParaRPr sz="1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Remote executive roles show highest salary outliers compared to hybrid and onsite.</a:t>
            </a:r>
            <a:endParaRPr sz="1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Clear salary progression is visible across experience levels, with exponential jumps at executive level.</a:t>
            </a:r>
            <a:endParaRPr sz="1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 b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(Viz </a:t>
            </a: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4 - Top 10 Extreme Salaries (annotated)) </a:t>
            </a:r>
            <a:endParaRPr sz="2400"/>
          </a:p>
        </p:txBody>
      </p:sp>
      <p:pic>
        <p:nvPicPr>
          <p:cNvPr id="105" name="Google Shape;105;p19" title="Screenshot 2025-12-07 at 6.53.04 PM.png"/>
          <p:cNvPicPr preferRelativeResize="0"/>
          <p:nvPr/>
        </p:nvPicPr>
        <p:blipFill rotWithShape="1">
          <a:blip r:embed="rId3">
            <a:alphaModFix/>
          </a:blip>
          <a:srcRect t="9280"/>
          <a:stretch/>
        </p:blipFill>
        <p:spPr>
          <a:xfrm>
            <a:off x="3497300" y="1450475"/>
            <a:ext cx="5301724" cy="312355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 txBox="1"/>
          <p:nvPr/>
        </p:nvSpPr>
        <p:spPr>
          <a:xfrm>
            <a:off x="482950" y="1058725"/>
            <a:ext cx="2876100" cy="40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Key Points: </a:t>
            </a:r>
            <a:endParaRPr sz="1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Roles span across US, UK, and Europe, with annotations showing location, work type, and experience level.</a:t>
            </a:r>
            <a:endParaRPr sz="1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Research Scientist (US, Onsite, Mid-level) tops the chart at $450K.</a:t>
            </a:r>
            <a:endParaRPr sz="1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Mixture of Remote, Onsite, and Hybrid roles shows flexibility in top-paying positions</a:t>
            </a:r>
            <a:endParaRPr sz="1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Roles include specialized fields like AI Scientist, Data Architect, and ML Scientist.</a:t>
            </a:r>
            <a:endParaRPr sz="1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Visual includes precise salary labels and experience indicators for context.</a:t>
            </a:r>
            <a:endParaRPr sz="1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 b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Goals Achieved:</a:t>
            </a:r>
            <a:endParaRPr sz="2000"/>
          </a:p>
          <a:p>
            <a:pPr marL="342900" lvl="0" indent="-266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 4 interactive visualizations using D3.js</a:t>
            </a:r>
            <a:endParaRPr sz="2000"/>
          </a:p>
          <a:p>
            <a:pPr marL="342900" lvl="0" indent="-266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Integrated hover tooltips, filters, and multi-view logic</a:t>
            </a:r>
            <a:endParaRPr sz="2000"/>
          </a:p>
          <a:p>
            <a:pPr marL="342900" lvl="0" indent="-266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Analyzed shifts in remote work, salary distribution, and top earners</a:t>
            </a:r>
            <a:endParaRPr sz="2000"/>
          </a:p>
          <a:p>
            <a:pPr marL="342900" lvl="0" indent="-266700" algn="l" rtl="0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Implemented all tasks (Compare, Present, Search-Locate, Annotate)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Obstacles and Future Work</a:t>
            </a:r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Limitations:</a:t>
            </a:r>
            <a:endParaRPr sz="2000"/>
          </a:p>
          <a:p>
            <a:pPr marL="342900" lvl="0" indent="-266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Heatmap (feature correlation) not fully implemented</a:t>
            </a:r>
            <a:endParaRPr sz="2000"/>
          </a:p>
          <a:p>
            <a:pPr marL="342900" lvl="0" indent="-266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job titles were inconsistent (needs preprocessing)</a:t>
            </a:r>
            <a:endParaRPr sz="200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Improvements:</a:t>
            </a:r>
            <a:endParaRPr sz="2000"/>
          </a:p>
          <a:p>
            <a:pPr marL="342900" lvl="0" indent="-266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dropdown filters for job title, country, experience level</a:t>
            </a:r>
            <a:endParaRPr sz="2000"/>
          </a:p>
          <a:p>
            <a:pPr marL="342900" lvl="0" indent="-266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 animation for year-over-year transitions</a:t>
            </a:r>
            <a:endParaRPr sz="2000"/>
          </a:p>
          <a:p>
            <a:pPr marL="342900" lvl="0" indent="-266700" algn="l" rtl="0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clustering on salary groups for better insights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85103818-A418-BFE6-1B07-B1E38539E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>
            <a:extLst>
              <a:ext uri="{FF2B5EF4-FFF2-40B4-BE49-F238E27FC236}">
                <a16:creationId xmlns:a16="http://schemas.microsoft.com/office/drawing/2014/main" id="{47449101-868B-9A93-543B-1DCBC6AEB9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152613"/>
            <a:ext cx="8229600" cy="644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you! Questions?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71006253"/>
      </p:ext>
    </p:extLst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536</Words>
  <Application>Microsoft Macintosh PowerPoint</Application>
  <PresentationFormat>On-screen Show (16:9)</PresentationFormat>
  <Paragraphs>54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Merriweather</vt:lpstr>
      <vt:lpstr>Roboto</vt:lpstr>
      <vt:lpstr>Paradigm</vt:lpstr>
      <vt:lpstr>The Remote Work Revolution in Data Science Salaries</vt:lpstr>
      <vt:lpstr>Why and How</vt:lpstr>
      <vt:lpstr>Design (Viz 1 - Salary Distribution by Work Type (per year)) </vt:lpstr>
      <vt:lpstr>Design (Viz 2 - Work Type Proportions &amp; Average Salary Trends) </vt:lpstr>
      <vt:lpstr>Design (Viz 3 - Work Type Proportions &amp; Average Salary Trends) </vt:lpstr>
      <vt:lpstr>Design (Viz 4 - Top 10 Extreme Salaries (annotated)) </vt:lpstr>
      <vt:lpstr>Discussion</vt:lpstr>
      <vt:lpstr>Obstacles and Future Work</vt:lpstr>
      <vt:lpstr>Thank you!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Ahmed A Rao</cp:lastModifiedBy>
  <cp:revision>3</cp:revision>
  <dcterms:modified xsi:type="dcterms:W3CDTF">2025-12-08T01:55:13Z</dcterms:modified>
</cp:coreProperties>
</file>